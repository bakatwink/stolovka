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3572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8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01104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989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03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26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94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024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4352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242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30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C322174-D743-411A-9640-CFB3E714BBF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A86A418-F59D-417B-BB4D-6CE6DB00A60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880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77048-C3A7-47F1-9D9F-346F9E8C7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5" y="1330774"/>
            <a:ext cx="8361229" cy="2098226"/>
          </a:xfrm>
        </p:spPr>
        <p:txBody>
          <a:bodyPr/>
          <a:lstStyle/>
          <a:p>
            <a:pPr algn="l"/>
            <a:r>
              <a:rPr lang="ru-RU" dirty="0"/>
              <a:t>Курсовой проект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179DEC-8EE6-4D5B-92E1-E74FA0A00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2" y="4184879"/>
            <a:ext cx="6831673" cy="108623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Работу выполнил: Чесник Константин Витальевич</a:t>
            </a:r>
          </a:p>
          <a:p>
            <a:r>
              <a:rPr lang="ru-RU" dirty="0"/>
              <a:t>Студент 3 курса группы ИСП-23К</a:t>
            </a:r>
          </a:p>
          <a:p>
            <a:r>
              <a:rPr lang="ru-RU" dirty="0"/>
              <a:t>Проверил: Криницкая Р.А.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418C8-BF91-4B3A-ADA1-61D9F8C6CD61}"/>
              </a:ext>
            </a:extLst>
          </p:cNvPr>
          <p:cNvSpPr txBox="1"/>
          <p:nvPr/>
        </p:nvSpPr>
        <p:spPr>
          <a:xfrm>
            <a:off x="1915125" y="3429000"/>
            <a:ext cx="8361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тему: «Анализ требований для разработки программного модуля ведения личного бюджета и расходов пользователя»</a:t>
            </a:r>
          </a:p>
        </p:txBody>
      </p:sp>
    </p:spTree>
    <p:extLst>
      <p:ext uri="{BB962C8B-B14F-4D97-AF65-F5344CB8AC3E}">
        <p14:creationId xmlns:p14="http://schemas.microsoft.com/office/powerpoint/2010/main" val="395233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E20D3-F315-4762-8172-752A59B1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459F38-644C-4771-A789-9091CB219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600" dirty="0"/>
              <a:t>	Актуальность создания программного модуля для учета личного бюджета пользователя обусловлена неэффективностью ручного способа и наличием человеческого фактора. Данный проект минимизирует или полностью исключает недостатки традиционных методов и имеет большую функциональность в сравнении.</a:t>
            </a:r>
          </a:p>
          <a:p>
            <a:pPr marL="0" indent="0" algn="just">
              <a:buNone/>
            </a:pPr>
            <a:r>
              <a:rPr lang="ru-RU" sz="1600" dirty="0"/>
              <a:t>	Основные задачи системы:</a:t>
            </a:r>
          </a:p>
          <a:p>
            <a:pPr algn="just"/>
            <a:r>
              <a:rPr lang="ru-RU" sz="1600" dirty="0"/>
              <a:t>обеспечение удобного интерфейса для пользователя;</a:t>
            </a:r>
          </a:p>
          <a:p>
            <a:pPr algn="just"/>
            <a:r>
              <a:rPr lang="ru-RU" sz="1600" dirty="0"/>
              <a:t>дать функцию манипуляции с типами транзакций пользователю;</a:t>
            </a:r>
          </a:p>
          <a:p>
            <a:pPr algn="just"/>
            <a:r>
              <a:rPr lang="ru-RU" sz="1600" dirty="0"/>
              <a:t>дать функцию манипуляции с транзакциями пользователю;</a:t>
            </a:r>
          </a:p>
          <a:p>
            <a:pPr algn="just"/>
            <a:r>
              <a:rPr lang="ru-RU" sz="1600" dirty="0"/>
              <a:t>возможность синхронизации данных с другими устройствами пользователя;</a:t>
            </a:r>
          </a:p>
          <a:p>
            <a:pPr algn="just"/>
            <a:r>
              <a:rPr lang="ru-RU" sz="1600" dirty="0"/>
              <a:t>полная независимость от сети интернет с сохранением максимальной функциональности.</a:t>
            </a:r>
          </a:p>
          <a:p>
            <a:pPr algn="just"/>
            <a:endParaRPr lang="ru-RU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7CFA26-11BF-49DC-945E-0B8223D49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47" y="3157817"/>
            <a:ext cx="2539253" cy="253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E640F-2639-4BD0-BEC3-7F5885D2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Структурный подход к проектированию информационной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FCAFCC-55DD-43B6-9AB1-E07EF2B8C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1800" dirty="0"/>
              <a:t>Структурный подход к проектированию системы является одним из наиболее распространенных и эффективных подходов в разработке программных продуктов. В данном проекте структурный подход определяется, как методология проектирования, основанную на декомпозиции системы на составные элементы, а также на определении связей и взаимодействий между ними.</a:t>
            </a:r>
          </a:p>
          <a:p>
            <a:pPr marL="0" indent="0" algn="just">
              <a:buNone/>
            </a:pPr>
            <a:r>
              <a:rPr lang="ru-RU" sz="1800" dirty="0"/>
              <a:t>	Процесс проектирования включает последовательное выполнение следующих этапов:</a:t>
            </a:r>
          </a:p>
          <a:p>
            <a:pPr algn="just"/>
            <a:r>
              <a:rPr lang="ru-RU" sz="1800" dirty="0"/>
              <a:t>Анализ предметной области и требований.</a:t>
            </a:r>
          </a:p>
          <a:p>
            <a:pPr algn="just"/>
            <a:r>
              <a:rPr lang="ru-RU" sz="1800" dirty="0"/>
              <a:t>Построение аналитических диаграмм.</a:t>
            </a:r>
          </a:p>
          <a:p>
            <a:pPr algn="just"/>
            <a:r>
              <a:rPr lang="ru-RU" sz="1800" dirty="0"/>
              <a:t>Разработка структурной схемы системы.</a:t>
            </a:r>
          </a:p>
          <a:p>
            <a:pPr algn="just"/>
            <a:r>
              <a:rPr lang="ru-RU" sz="1800" dirty="0"/>
              <a:t>Проектирование физической архитектуры.</a:t>
            </a:r>
          </a:p>
        </p:txBody>
      </p:sp>
      <p:pic>
        <p:nvPicPr>
          <p:cNvPr id="2050" name="Picture 2" descr="Древовидная структура – Бесплатные иконки: бизнес">
            <a:extLst>
              <a:ext uri="{FF2B5EF4-FFF2-40B4-BE49-F238E27FC236}">
                <a16:creationId xmlns:a16="http://schemas.microsoft.com/office/drawing/2014/main" id="{4917B949-CBEA-4F59-A3B9-CC9DACE3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766" y="4076700"/>
            <a:ext cx="2124634" cy="2124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84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17404-95E2-4D22-83DF-0DC52A882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потоков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E41435-AB9D-4887-8EF2-D95BB13D8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279" y="2114909"/>
            <a:ext cx="4511615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Диаграмма потоков данных (DFD) – это графическое представление, которое используется для описания потоков данных в системе и процессов, которые обрабатывают эти данные. Она помогает проектировщикам системы понять, как данные перемещаются внутри системы, какие процессы и функции выполняются с ними, и как они связаны между собой.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1CFE35-D3B7-4A11-A143-9E9D8B5C4C8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894" y="2018581"/>
            <a:ext cx="6692334" cy="37740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615E9-333D-4CC3-B3E8-CB31DF31EEFC}"/>
              </a:ext>
            </a:extLst>
          </p:cNvPr>
          <p:cNvSpPr txBox="1"/>
          <p:nvPr/>
        </p:nvSpPr>
        <p:spPr>
          <a:xfrm>
            <a:off x="940279" y="5497901"/>
            <a:ext cx="4034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данной диаграмме представлено взаимодействие клиента с системой учета личного бюджета</a:t>
            </a:r>
          </a:p>
          <a:p>
            <a:endParaRPr lang="ru-RU" dirty="0"/>
          </a:p>
        </p:txBody>
      </p:sp>
      <p:pic>
        <p:nvPicPr>
          <p:cNvPr id="3074" name="Picture 2" descr="Data flow - Free interface icons">
            <a:extLst>
              <a:ext uri="{FF2B5EF4-FFF2-40B4-BE49-F238E27FC236}">
                <a16:creationId xmlns:a16="http://schemas.microsoft.com/office/drawing/2014/main" id="{689AFC14-0D76-4459-9DBE-AAD116258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8040" y="462687"/>
            <a:ext cx="1205349" cy="1205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618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9BBF7-96BA-4496-9DDC-8780FAF6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</a:t>
            </a:r>
            <a:r>
              <a:rPr lang="ru-RU" dirty="0" err="1"/>
              <a:t>сущнось</a:t>
            </a:r>
            <a:r>
              <a:rPr lang="ru-RU" dirty="0"/>
              <a:t>-связь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3E58A2-D719-4D28-A155-6D7AA24B8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966" y="2171700"/>
            <a:ext cx="8898468" cy="236643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Диаграмма ERD (</a:t>
            </a:r>
            <a:r>
              <a:rPr lang="ru-RU" dirty="0" err="1"/>
              <a:t>Entity</a:t>
            </a:r>
            <a:r>
              <a:rPr lang="ru-RU" dirty="0"/>
              <a:t> – </a:t>
            </a:r>
            <a:r>
              <a:rPr lang="ru-RU" dirty="0" err="1"/>
              <a:t>Relationship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) – это графическое представление сущностей и их отношений в базе данных. Он помогает разработчикам понять структуру данных, а также установить связи между различными сущностями. ERD состоит из нескольких элементов:</a:t>
            </a:r>
          </a:p>
          <a:p>
            <a:pPr algn="just"/>
            <a:r>
              <a:rPr lang="ru-RU" dirty="0"/>
              <a:t>Сущности – объекты, которые будут храниться в базе данных.</a:t>
            </a:r>
          </a:p>
          <a:p>
            <a:pPr algn="just"/>
            <a:r>
              <a:rPr lang="ru-RU" dirty="0"/>
              <a:t>Атрибуты – характеристики сущностей.</a:t>
            </a:r>
          </a:p>
          <a:p>
            <a:pPr algn="just"/>
            <a:r>
              <a:rPr lang="ru-RU" dirty="0"/>
              <a:t>Отношения – связи между сущностями с определенным типом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541D7F-B776-4B3E-818E-F26184CFBC2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7" y="4628619"/>
            <a:ext cx="6257925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Entity Relationship Diagram Icons - Free SVG &amp; PNG Entity Relationship  Diagram Images - Noun Project">
            <a:extLst>
              <a:ext uri="{FF2B5EF4-FFF2-40B4-BE49-F238E27FC236}">
                <a16:creationId xmlns:a16="http://schemas.microsoft.com/office/drawing/2014/main" id="{E89660C8-C562-4595-8AFD-F58319574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089" y="351769"/>
            <a:ext cx="1322793" cy="132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521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4444B-8CA4-4C66-AD9F-E1953F9C3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переходов состояний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2814CD-0AB9-47D9-BEE4-CBFB414E5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71700"/>
            <a:ext cx="10820400" cy="9683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Диаграмма переходов состояний (STD)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 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это инструмент моделирования, используемый для описания поведения системы, которое зависит от ее состояния. STD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диаграмма состоит из набора состояний, переходов и событий. автоматически, без вмешательства пользователя.</a:t>
            </a:r>
            <a:endParaRPr lang="ru-RU" sz="1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2C7F54-8A5D-4CE2-B59C-36825AF9495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92" y="3140015"/>
            <a:ext cx="6620774" cy="3623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D164ED-1235-4520-9F26-A0F6B5D48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306" y="215915"/>
            <a:ext cx="1730188" cy="173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7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CA1BB-A40B-4D67-A9C7-7BFDFCBB4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функционального потока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A40204-1A79-4CCC-B475-0C6804537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66" y="1590675"/>
            <a:ext cx="11243734" cy="11620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	Функциональная диаграмма (</a:t>
            </a:r>
            <a:r>
              <a:rPr lang="ru-RU" dirty="0" err="1"/>
              <a:t>Functional</a:t>
            </a:r>
            <a:r>
              <a:rPr lang="ru-RU" dirty="0"/>
              <a:t> </a:t>
            </a:r>
            <a:r>
              <a:rPr lang="ru-RU" dirty="0" err="1"/>
              <a:t>Flow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 – FFD) – это графическое представление функций, выполняемых системой, и их взаимосвязей. Она позволяет представить структуру системы и процессы, которые происходят в ней.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EAE561-011F-4375-974E-A8BF28946D5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237" y="2838450"/>
            <a:ext cx="6257925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CF2003-E695-4CE7-8FAE-452049154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795" y="312332"/>
            <a:ext cx="1196540" cy="119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3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BD48E-A0BF-4B1B-AA18-1F3EC550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эскизного проекта при структурном анализе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2EA61-E260-450E-A1B7-9ADC412E965E}"/>
              </a:ext>
            </a:extLst>
          </p:cNvPr>
          <p:cNvSpPr txBox="1"/>
          <p:nvPr/>
        </p:nvSpPr>
        <p:spPr>
          <a:xfrm>
            <a:off x="5417352" y="2221243"/>
            <a:ext cx="135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Окно «Вход»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BC51D-607D-4E2D-97B9-D136A42FB610}"/>
              </a:ext>
            </a:extLst>
          </p:cNvPr>
          <p:cNvSpPr txBox="1"/>
          <p:nvPr/>
        </p:nvSpPr>
        <p:spPr>
          <a:xfrm>
            <a:off x="3091469" y="6119336"/>
            <a:ext cx="6161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/>
              <a:t>Окно «Вход» дает пользователю войти в свою учетную запись или зарегистрировать ее, так же есть возможность пропустить это окно для автономного использования системы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72FF20-532E-41D6-9F5E-0DF664185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469" y="2708949"/>
            <a:ext cx="6161462" cy="3463251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9B1A8A3D-3393-49FA-807C-90ACEA262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7011" y="148551"/>
            <a:ext cx="1909482" cy="190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241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BB1C3-60EF-4912-BD6A-23A52385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эскизного проекта при структурном анализе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F8EB68-F8A6-4E1D-A494-5F9F3C7373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40380" y="2650490"/>
            <a:ext cx="6263640" cy="3521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F3BA5C-764A-43EA-B365-2C91EC9A8088}"/>
              </a:ext>
            </a:extLst>
          </p:cNvPr>
          <p:cNvSpPr txBox="1"/>
          <p:nvPr/>
        </p:nvSpPr>
        <p:spPr>
          <a:xfrm>
            <a:off x="5146823" y="2226429"/>
            <a:ext cx="2050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Окно «Транзакции»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4DA97-9ED6-4EB8-9169-6E480388041F}"/>
              </a:ext>
            </a:extLst>
          </p:cNvPr>
          <p:cNvSpPr txBox="1"/>
          <p:nvPr/>
        </p:nvSpPr>
        <p:spPr>
          <a:xfrm>
            <a:off x="3040379" y="6226929"/>
            <a:ext cx="6263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/>
              <a:t>Окно «Транзакции» демонстрирует пользователю его историю транзакций и дает возможность ими манипулировать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A509F4E-8D9B-41DC-8DDD-57BE95FD4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7011" y="148551"/>
            <a:ext cx="1909482" cy="190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7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576D9-6A64-4275-B6D6-7BABCA66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эскизного проекта при структурном анализе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D8F6D8-8BFF-46E7-9386-E5558E7ADF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64180" y="2648585"/>
            <a:ext cx="6263640" cy="3523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341078-A831-485D-9026-8602115B429B}"/>
              </a:ext>
            </a:extLst>
          </p:cNvPr>
          <p:cNvSpPr txBox="1"/>
          <p:nvPr/>
        </p:nvSpPr>
        <p:spPr>
          <a:xfrm>
            <a:off x="4294866" y="2225476"/>
            <a:ext cx="3602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Окно «Создание/редактирование»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D34CD-0A6C-49F6-A222-358A0826AC3C}"/>
              </a:ext>
            </a:extLst>
          </p:cNvPr>
          <p:cNvSpPr txBox="1"/>
          <p:nvPr/>
        </p:nvSpPr>
        <p:spPr>
          <a:xfrm>
            <a:off x="2964181" y="6234865"/>
            <a:ext cx="62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dirty="0"/>
              <a:t>Окно «Создание/редактирование» позволяет пользователю создавать или редактировать транзакцию при нажатии на соответствующую кнопку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16EE223-4A71-425F-B3FF-2DEC99DE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7011" y="148551"/>
            <a:ext cx="1909482" cy="190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381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6C915-1F58-4E93-8E1E-B4321364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и инфологическая модели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FC5683-4DD6-4F93-8494-C9B32D3F9A8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743" y="2819039"/>
            <a:ext cx="4955875" cy="2719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31AA8B-7503-4210-A8E1-EE901C98446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83" y="2819040"/>
            <a:ext cx="5322498" cy="271911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710772-50CA-4901-B087-1C5C486D9228}"/>
              </a:ext>
            </a:extLst>
          </p:cNvPr>
          <p:cNvSpPr txBox="1"/>
          <p:nvPr/>
        </p:nvSpPr>
        <p:spPr>
          <a:xfrm>
            <a:off x="2160399" y="2310703"/>
            <a:ext cx="2614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Инфологическая 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CFC07-B6A9-401E-A080-8F9238A6D4ED}"/>
              </a:ext>
            </a:extLst>
          </p:cNvPr>
          <p:cNvSpPr txBox="1"/>
          <p:nvPr/>
        </p:nvSpPr>
        <p:spPr>
          <a:xfrm>
            <a:off x="7600351" y="2310703"/>
            <a:ext cx="2105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Логическая модель</a:t>
            </a:r>
          </a:p>
        </p:txBody>
      </p:sp>
      <p:pic>
        <p:nvPicPr>
          <p:cNvPr id="8196" name="Picture 4" descr="Data Model Icon #45490 - Free Icons Library">
            <a:extLst>
              <a:ext uri="{FF2B5EF4-FFF2-40B4-BE49-F238E27FC236}">
                <a16:creationId xmlns:a16="http://schemas.microsoft.com/office/drawing/2014/main" id="{8C29FB09-5CB9-43C2-9FDD-0FD605DAC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2483" y="404731"/>
            <a:ext cx="1371600" cy="134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46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27E17-1C3E-4FD8-8D3B-C847281BE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63600"/>
          </a:xfrm>
        </p:spPr>
        <p:txBody>
          <a:bodyPr/>
          <a:lstStyle/>
          <a:p>
            <a:r>
              <a:rPr lang="ru-RU" dirty="0"/>
              <a:t>База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D6957C-5D4F-42DE-AA54-56C557C75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03266"/>
            <a:ext cx="5055233" cy="3457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54852C-6916-4538-B225-057D86916D71}"/>
              </a:ext>
            </a:extLst>
          </p:cNvPr>
          <p:cNvSpPr txBox="1"/>
          <p:nvPr/>
        </p:nvSpPr>
        <p:spPr>
          <a:xfrm>
            <a:off x="6647451" y="1703266"/>
            <a:ext cx="53260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База данных реализует систему синхронизации данных транзакций локального хранилища пользователя с его учетной записью, что дает возможность использовать систему автономно, а при смене устройства использовать все его переданные данные из базы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9E23-172F-4FBE-A9A2-A5F6D5D50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369" y="3611458"/>
            <a:ext cx="4448175" cy="790575"/>
          </a:xfrm>
          <a:prstGeom prst="rect">
            <a:avLst/>
          </a:prstGeom>
        </p:spPr>
      </p:pic>
      <p:pic>
        <p:nvPicPr>
          <p:cNvPr id="7172" name="Picture 4" descr="database Vector Icons free download in SVG, PNG Format">
            <a:extLst>
              <a:ext uri="{FF2B5EF4-FFF2-40B4-BE49-F238E27FC236}">
                <a16:creationId xmlns:a16="http://schemas.microsoft.com/office/drawing/2014/main" id="{47093116-70C1-4FFA-928F-10D950D5B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659" y="478979"/>
            <a:ext cx="1070421" cy="107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32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97F9A-4EAD-4A05-927C-C862D07E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2EEC4E-D6B2-4E18-9256-C76EC237E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	В результате выполнения курсового проекта проведен анализ требования к программному модулю по продаже билетов на концерты и мероприятия, была разработана структура системы и созданы диаграммы, необходимые для реализации функционала в программном модуле.</a:t>
            </a:r>
          </a:p>
          <a:p>
            <a:pPr marL="0" indent="0" algn="just">
              <a:buNone/>
            </a:pPr>
            <a:r>
              <a:rPr lang="ru-RU" dirty="0"/>
              <a:t>	Для создания системы была выбрана реляционная модель базы данных, которая позволяет хранить данные в удобном для работы формате и обеспечивает их безопасность. Была проведена разработка логической и инфологической моделей данных, а так же создание схемы базы данных.</a:t>
            </a:r>
          </a:p>
          <a:p>
            <a:pPr marL="0" indent="0" algn="just">
              <a:buNone/>
            </a:pPr>
            <a:r>
              <a:rPr lang="ru-RU" dirty="0"/>
              <a:t>	Таким образом, автоматизация учета личного бюджета пользователя повысила: удобство ведения учета, эффективность процесса и снизила уровень человеческого фактора</a:t>
            </a:r>
          </a:p>
        </p:txBody>
      </p:sp>
    </p:spTree>
    <p:extLst>
      <p:ext uri="{BB962C8B-B14F-4D97-AF65-F5344CB8AC3E}">
        <p14:creationId xmlns:p14="http://schemas.microsoft.com/office/powerpoint/2010/main" val="344126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6F0EF-4F4E-4A2E-8EAD-A9BD058B0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1485900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553148669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250</TotalTime>
  <Words>653</Words>
  <Application>Microsoft Office PowerPoint</Application>
  <PresentationFormat>Широкоэкранный</PresentationFormat>
  <Paragraphs>51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Franklin Gothic Book</vt:lpstr>
      <vt:lpstr>Times New Roman</vt:lpstr>
      <vt:lpstr>Уголки</vt:lpstr>
      <vt:lpstr>Курсовой проект</vt:lpstr>
      <vt:lpstr>Введение</vt:lpstr>
      <vt:lpstr>Структурный подход к проектированию информационной системы</vt:lpstr>
      <vt:lpstr>Диаграмма потоков данных</vt:lpstr>
      <vt:lpstr>Диаграмма сущнось-связь</vt:lpstr>
      <vt:lpstr>Диаграмма переходов состояний</vt:lpstr>
      <vt:lpstr>Диаграмма функционального потока</vt:lpstr>
      <vt:lpstr>Проектирование эскизного проекта при структурном анализе</vt:lpstr>
      <vt:lpstr>Проектирование эскизного проекта при структурном анализе</vt:lpstr>
      <vt:lpstr>Проектирование эскизного проекта при структурном анализе</vt:lpstr>
      <vt:lpstr>Логическая и инфологическая модели</vt:lpstr>
      <vt:lpstr>База данных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учета личного бюджета пользователя</dc:title>
  <dc:creator>Костя</dc:creator>
  <cp:lastModifiedBy>Костя</cp:lastModifiedBy>
  <cp:revision>4</cp:revision>
  <dcterms:created xsi:type="dcterms:W3CDTF">2025-12-17T19:15:58Z</dcterms:created>
  <dcterms:modified xsi:type="dcterms:W3CDTF">2025-12-17T23:26:47Z</dcterms:modified>
</cp:coreProperties>
</file>